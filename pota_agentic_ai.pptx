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Arial"/>
              </a:rPr>
              <a:t>POTA! L'AGENTIC AI</a:t>
            </a:r>
          </a:p>
          <a:p>
            <a:pPr algn="l">
              <a:spcBef>
                <a:spcPts val="600"/>
              </a:spcBef>
            </a:pPr>
            <a:r>
              <a:rPr sz="2400" b="1">
                <a:solidFill>
                  <a:srgbClr val="4285F4"/>
                </a:solidFill>
                <a:latin typeface="Arial"/>
              </a:rPr>
              <a:t>Stop prompting, start building agents.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880360"/>
            <a:ext cx="5029200" cy="36576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063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0A6"/>
                </a:solidFill>
                <a:latin typeface="Arial"/>
              </a:rPr>
              <a:t>Matteo Gazzurelli · MaGa Srl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930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Brescia, 21 Maggio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85F4"/>
                </a:solidFill>
                <a:latin typeface="Arial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Dal prompting all'Agentic AI: il cambio di paradigma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7335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85F4"/>
                </a:solidFill>
                <a:latin typeface="Arial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Google Agent Development Kit (ADK): cos'è e come funziona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9514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85F4"/>
                </a:solidFill>
                <a:latin typeface="Arial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95144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Case study: analisi bandi di gara con agenti collaborativi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1693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85F4"/>
                </a:solidFill>
                <a:latin typeface="Arial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1693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Human-in-the-Loop e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3872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85F4"/>
                </a:solidFill>
                <a:latin typeface="Arial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3872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Evaluation: come si misura un agente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85F4"/>
                </a:solidFill>
                <a:latin typeface="Arial"/>
              </a:rP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Risorse per iniziare (sviluppatori &amp; team lead)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Dal Prompting all'Agentic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Due paradigmi a confronto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023360" cy="438912"/>
          </a:xfrm>
          <a:prstGeom prst="rect">
            <a:avLst/>
          </a:prstGeom>
          <a:solidFill>
            <a:srgbClr val="15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698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AA0A6"/>
                </a:solidFill>
                <a:latin typeface="Arial"/>
              </a:rPr>
              <a:t>PROMPTING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05840"/>
            <a:ext cx="4023360" cy="43891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698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AGENTIC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4023360" cy="512064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Arial"/>
              </a:rPr>
              <a:t>Input →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81328"/>
            <a:ext cx="4023360" cy="512064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5727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Input → Piano → Azioni →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29968"/>
            <a:ext cx="4023360" cy="512064"/>
          </a:xfrm>
          <a:prstGeom prst="rect">
            <a:avLst/>
          </a:prstGeom>
          <a:solidFill>
            <a:srgbClr val="15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21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Arial"/>
              </a:rPr>
              <a:t>Stateless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029968"/>
            <a:ext cx="4023360" cy="512064"/>
          </a:xfrm>
          <a:prstGeom prst="rect">
            <a:avLst/>
          </a:prstGeom>
          <a:solidFill>
            <a:srgbClr val="15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121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Stateful (sessione + memoria)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78608"/>
            <a:ext cx="4023360" cy="512064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700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Arial"/>
              </a:rPr>
              <a:t>Un modello, una risposta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578608"/>
            <a:ext cx="4023360" cy="512064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67004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Multi-agente, collaborativo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27248"/>
            <a:ext cx="4023360" cy="512064"/>
          </a:xfrm>
          <a:prstGeom prst="rect">
            <a:avLst/>
          </a:prstGeom>
          <a:solidFill>
            <a:srgbClr val="15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186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Arial"/>
              </a:rPr>
              <a:t>L'utente esegue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127248"/>
            <a:ext cx="4023360" cy="512064"/>
          </a:xfrm>
          <a:prstGeom prst="rect">
            <a:avLst/>
          </a:prstGeom>
          <a:solidFill>
            <a:srgbClr val="15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2186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L'agente esegue (con supervisione)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75887"/>
            <a:ext cx="4023360" cy="512064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767327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Arial"/>
              </a:rPr>
              <a:t>Assistente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675887"/>
            <a:ext cx="4023360" cy="512064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767327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Lavoratore autonomo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45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BBC05"/>
                </a:solidFill>
                <a:latin typeface="Arial"/>
              </a:rPr>
              <a:t>"Un assistente risponde. Un agente risolve."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Google Agent Development Kit (ADK)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SDK open-source, code-first per sistemi agentici in produzione con Gemini e Vertex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285F4"/>
                </a:solidFill>
                <a:latin typeface="Arial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515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Unità intelligente con istruzioni, strumenti e memoria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713232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285F4"/>
                </a:solidFill>
                <a:latin typeface="Arial"/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282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Funzioni che l'agente esegue nel mondo reale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39696"/>
            <a:ext cx="713232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285F4"/>
                </a:solidFill>
                <a:latin typeface="Arial"/>
              </a:rPr>
              <a:t>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048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Conversazione stateful con storia e stato condiviso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16352"/>
            <a:ext cx="713232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81527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285F4"/>
                </a:solidFill>
                <a:latin typeface="Arial"/>
              </a:rPr>
              <a:t>Runner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81527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Motore di esecuzione e orchestrazione degli eventi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93007"/>
            <a:ext cx="713232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58183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285F4"/>
                </a:solidFill>
                <a:latin typeface="Arial"/>
              </a:rPr>
              <a:t>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58183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Framework per misurare correttezza comportamentale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9663"/>
            <a:ext cx="713232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005840"/>
            <a:ext cx="1554480" cy="3959352"/>
          </a:xfrm>
          <a:prstGeom prst="rect">
            <a:avLst/>
          </a:prstGeom>
          <a:solidFill>
            <a:srgbClr val="0D121F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A0A6"/>
                </a:solidFill>
                <a:latin typeface="Arial"/>
              </a:rPr>
              <a:t>Linguaggi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417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·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1691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· 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9659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· 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2402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· TypeScript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560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A0A6"/>
                </a:solidFill>
                <a:latin typeface="Arial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880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· Cloud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1546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· GKE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4290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· Agent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ADK: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Il Runner orchestra tutto — un Agent è solo la definizione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69494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Case Study: Analisi Bandi di Gara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Il problema: analizzare un bando in 30 minuti, non in 3 giorni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206240" cy="3200400"/>
          </a:xfrm>
          <a:prstGeom prst="rect">
            <a:avLst/>
          </a:prstGeom>
          <a:solidFill>
            <a:srgbClr val="0D121F"/>
          </a:solidFill>
          <a:ln w="12700">
            <a:solidFill>
              <a:srgbClr val="2C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Documenti complessi (50–200 pagine)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Arial"/>
              </a:rPr>
              <a:t>  Requisiti tecnici e amministrativi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Arial"/>
              </a:rPr>
              <a:t>  Scadenze stringenti (&lt; 2 settimane)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Arial"/>
              </a:rPr>
              <a:t>  Penali: fino al 10% del contratto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9806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Arial"/>
              </a:rPr>
              <a:t>  Errori costosi: esclusione o perdita garanzie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005840"/>
            <a:ext cx="3749039" cy="2011680"/>
          </a:xfrm>
          <a:prstGeom prst="rect">
            <a:avLst/>
          </a:prstGeom>
          <a:solidFill>
            <a:srgbClr val="1A3124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972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Arial"/>
              </a:rPr>
              <a:t>Obiettivo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4813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Leggere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653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Analizzare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494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Decidere Go/No-Go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6334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Attivare workspace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25112"/>
            <a:ext cx="8229600" cy="594360"/>
          </a:xfrm>
          <a:prstGeom prst="rect">
            <a:avLst/>
          </a:prstGeom>
          <a:solidFill>
            <a:srgbClr val="1A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34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0A6"/>
                </a:solidFill>
                <a:latin typeface="Arial"/>
              </a:rPr>
              <a:t>Esempio · Sardegna CAT · Manutenzione impianti · CIG: Z123456789 · €150.000 · Scadenza: 20/05/2026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Architettura Multi-Agente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Pattern A2A: bid_manager (orchestratore) + tender_analyst (specialista legale)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Demo: Il Flusso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Sequenza di esecuzione — caso Go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Human-in-the-Loop (HITL)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Governance: nessuna azione senza approvazione esplicita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0" cy="2926080"/>
          </a:xfrm>
          <a:prstGeom prst="rect">
            <a:avLst/>
          </a:prstGeom>
          <a:solidFill>
            <a:srgbClr val="0D121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85F4"/>
                </a:solidFill>
                <a:latin typeface="Courier New"/>
              </a:rPr>
              <a:t>LongRunningFunctionTool(ask_bid_decision)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1.  Agente chiama tool  →  {"status": "pending"}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2.  Restituisce il controllo all'utente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39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3.  Utente risponde 'Go' o 'No-Go' in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79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ial"/>
              </a:rPr>
              <a:t>4.  Agente interpreta la risposta e prosegue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005840"/>
            <a:ext cx="3108960" cy="2926080"/>
          </a:xfrm>
          <a:prstGeom prst="rect">
            <a:avLst/>
          </a:prstGeom>
          <a:solidFill>
            <a:srgbClr val="1A3124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Arial"/>
              </a:rPr>
              <a:t>Doppio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5087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Instruction-based
"SOLO SE l'utente risponde Go..."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3774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Code-based
before_tool_callback blocca
setup_bid_workspace se
hitl_requested !=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45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BBC05"/>
                </a:solidFill>
                <a:latin typeface="Arial"/>
              </a:rPr>
              <a:t>"Non basta istruire il modello. Il codice deve enforcare la policy."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Strumenti e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I tre building blocks della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0D121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Courier New"/>
              </a:rPr>
              <a:t>read_tender(url)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33856"/>
            <a:ext cx="2743200" cy="274320"/>
          </a:xfrm>
          <a:prstGeom prst="rect">
            <a:avLst/>
          </a:prstGeom>
          <a:solidFill>
            <a:srgbClr val="0D1228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15214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  <a:latin typeface="Courier New"/>
              </a:rPr>
              <a:t>[FunctionTool]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Grounding: estrae testo dal bando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47088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0A6"/>
                </a:solidFill>
                <a:latin typeface="Arial"/>
              </a:rPr>
              <a:t>Demo: mock Sardegna CAT   →   Prod: load_web_page + PDF parser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solidFill>
            <a:srgbClr val="0D121F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C05"/>
                </a:solidFill>
                <a:latin typeface="Courier New"/>
              </a:rPr>
              <a:t>ask_bid_decision(message)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395728"/>
            <a:ext cx="2743200" cy="274320"/>
          </a:xfrm>
          <a:prstGeom prst="rect">
            <a:avLst/>
          </a:prstGeom>
          <a:solidFill>
            <a:srgbClr val="0D1228"/>
          </a:solidFill>
          <a:ln w="1016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41401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C05"/>
                </a:solidFill>
                <a:latin typeface="Courier New"/>
              </a:rPr>
              <a:t>[LongRunningFunctionTool]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HITL gate: pausa e attende risposta umana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0A6"/>
                </a:solidFill>
                <a:latin typeface="Arial"/>
              </a:rPr>
              <a:t>Scrive hitl_requested=True in session.state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47872"/>
            <a:ext cx="8229600" cy="1188720"/>
          </a:xfrm>
          <a:prstGeom prst="rect">
            <a:avLst/>
          </a:prstGeom>
          <a:solidFill>
            <a:srgbClr val="0D121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393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Courier New"/>
              </a:rPr>
              <a:t>setup_bid_workspace(tender_id)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657600"/>
            <a:ext cx="2743200" cy="274320"/>
          </a:xfrm>
          <a:prstGeom prst="rect">
            <a:avLst/>
          </a:prstGeom>
          <a:solidFill>
            <a:srgbClr val="0D1228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67588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A853"/>
                </a:solidFill>
                <a:latin typeface="Courier New"/>
              </a:rPr>
              <a:t>[FunctionTool]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5079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Skill: azione nel mondo reale (Drive, Jira, email)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7083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0A6"/>
                </a:solidFill>
                <a:latin typeface="Arial"/>
              </a:rPr>
              <a:t>Demo: mock   →   Prod: Google Drive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BBC05"/>
                </a:solidFill>
                <a:latin typeface="Arial"/>
              </a:rPr>
              <a:t>"Ogni tool è una porta verso il mondo reale. ADK gestisce il routing."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Evaluation: Oltre il Test Unitario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I test unitari non bastano — servono evaluation comportamentali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A853"/>
                </a:solidFill>
                <a:latin typeface="Courier New"/>
              </a:rPr>
              <a:t>$ agents-cli eval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8229600" cy="969264"/>
          </a:xfrm>
          <a:prstGeom prst="rect">
            <a:avLst/>
          </a:prstGeom>
          <a:solidFill>
            <a:srgbClr val="0D121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64008" cy="9692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Courier New"/>
              </a:rPr>
              <a:t>tool_trajectory_avg_score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8046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L'agente ha chiamato read_tender → tender_analyst → ask_bid_decision nell'ordine corretto?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8229600" cy="969264"/>
          </a:xfrm>
          <a:prstGeom prst="rect">
            <a:avLst/>
          </a:prstGeom>
          <a:solidFill>
            <a:srgbClr val="0D121F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64008" cy="9692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5"/>
                </a:solidFill>
                <a:latin typeface="Courier New"/>
              </a:rPr>
              <a:t>rubric_based_final_response_quality_v1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35808"/>
            <a:ext cx="8046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LLM-as-Judge: la risposta è professionale e include CIG, importo, scadenza?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11879"/>
            <a:ext cx="8229600" cy="969264"/>
          </a:xfrm>
          <a:prstGeom prst="rect">
            <a:avLst/>
          </a:prstGeom>
          <a:solidFill>
            <a:srgbClr val="0D121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11879"/>
            <a:ext cx="64008" cy="9692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85031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853"/>
                </a:solidFill>
                <a:latin typeface="Courier New"/>
              </a:rPr>
              <a:t>no_go_flow_test  [aggiunto in sessione]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87367"/>
            <a:ext cx="8046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Con 'No-Go', setup_bid_workspace NON viene chiamato. Zero tolerance.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0A6"/>
                </a:solidFill>
                <a:latin typeface="Arial"/>
              </a:rPr>
              <a:t>Soglia di qualità: score ≥ 0.8 su tutti i criteri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Risorse: Per Sviluppatori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Da dove inizio a sviluppare con ADK?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Arial"/>
              </a:rPr>
              <a:t>Documentazione ufficiale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google.github.io/adk-docs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5648"/>
            <a:ext cx="822960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Arial"/>
              </a:rPr>
              <a:t>Codice &amp;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github.com/google/adk-python   ·   github.com/google/adk-samples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822960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786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Arial"/>
              </a:rPr>
              <a:t>CLI per sviluppo locale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uv tool install google-agents-cli   →   agents-cli playground | eval | deploy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10128"/>
            <a:ext cx="822960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55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558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Arial"/>
              </a:rPr>
              <a:t>Prova gratis (senza GCP)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aistudio.google.com — chiave API gratuita, nessuna carta di credito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87368"/>
            <a:ext cx="822960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3308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3308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Arial"/>
              </a:rPr>
              <a:t>Questo progetto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8055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github.com/Gazzumatteo/adk-meetup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64607"/>
            <a:ext cx="8229600" cy="9144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908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BBC05"/>
                </a:solidFill>
                <a:latin typeface="Arial"/>
              </a:rPr>
              <a:t>"Inizia con il playground locale. Aggiungi un tool. Scrivi un eval. Itera."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54864" cy="502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8288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Risorse: Per CTO / Team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675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Come costruisco un team che lavora con Agentic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285F4"/>
                </a:solidFill>
                <a:latin typeface="Arial"/>
              </a:rPr>
              <a:t>🏗️  Deploy &amp; Infrastruttura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Vertex AI Agent Engine
cloud.google.com/vertex-ai/generative-ai/docs/agent-engine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285F4"/>
                </a:solidFill>
                <a:latin typeface="Arial"/>
              </a:rPr>
              <a:t>📊  Enterprise &amp;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Gemini Agentspace — scoperta e governance agenti in azienda
agentspace.google.com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906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285F4"/>
                </a:solidFill>
                <a:latin typeface="Arial"/>
              </a:rPr>
              <a:t>🎓  Formazione del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5643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Google Cloud Skills Boost: cloudskillsboost.google
Percorso: Developing AI Agents with ADK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005840"/>
            <a:ext cx="3657600" cy="3474720"/>
          </a:xfrm>
          <a:prstGeom prst="rect">
            <a:avLst/>
          </a:prstGeom>
          <a:solidFill>
            <a:srgbClr val="0D121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0972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A853"/>
                </a:solidFill>
                <a:latin typeface="Arial"/>
              </a:rPr>
              <a:t>🏢  Pattern organizzativo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50876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Platform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8105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A853"/>
                </a:solidFill>
                <a:latin typeface="Arial"/>
              </a:rPr>
              <a:t>  → infra, eval, osservabilità, LLMOps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414015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Feature teams (verticali)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7157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A853"/>
                </a:solidFill>
                <a:latin typeface="Arial"/>
              </a:rPr>
              <a:t>  → agenti per ogni dominio aziendale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3192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BBC05"/>
                </a:solidFill>
                <a:latin typeface="Arial"/>
              </a:rPr>
              <a:t>Regola d'oro: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6210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  1 use case concreto, misurabile,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92277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  a basso rischio operativo.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7258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0A6"/>
                </a:solidFill>
                <a:latin typeface="Arial"/>
              </a:rPr>
              <a:t>📧  matteo@duckma.com  ·  duckma.com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HUMANS · TECHNOLOGY ·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AA0A6"/>
                </a:solidFill>
                <a:latin typeface="Arial"/>
              </a:rPr>
              <a:t>Costruiamo agenti che potenziano le persone,
non che le sostituiscono.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285F4"/>
                </a:solidFill>
                <a:latin typeface="Arial"/>
              </a:rPr>
              <a:t>Domande?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AA0A6"/>
                </a:solidFill>
                <a:latin typeface="Arial"/>
              </a:rPr>
              <a:t>@Gazzumatteo  ·  github.com/Gazzumatteo/adk-meetup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